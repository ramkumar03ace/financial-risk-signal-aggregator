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3C5FD"/>
                </a:solidFill>
                <a:latin typeface="Segoe UI"/>
              </a:rPr>
              <a:t>01 · UNDERSTANDING THE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PROBLEM UNDERSTANDING AND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840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93C5FD"/>
                </a:solidFill>
                <a:latin typeface="Segoe UI"/>
              </a:rPr>
              <a:t>1/5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563EB"/>
                </a:solidFill>
                <a:latin typeface="Segoe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783080"/>
            <a:ext cx="667512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563EB"/>
                </a:solidFill>
                <a:latin typeface="Segoe UI"/>
              </a:rPr>
              <a:t>▸  </a:t>
            </a:r>
            <a:r>
              <a:rPr sz="1450" b="1">
                <a:solidFill>
                  <a:srgbClr val="334155"/>
                </a:solidFill>
                <a:latin typeface="Segoe UI"/>
              </a:rPr>
              <a:t>Fragmented review:  </a:t>
            </a:r>
            <a:r>
              <a:rPr sz="1450">
                <a:solidFill>
                  <a:srgbClr val="334155"/>
                </a:solidFill>
                <a:latin typeface="Segoe UI"/>
              </a:rPr>
              <a:t>compliance &amp; risk teams manually cross-check transaction alerts, customer/KYC records and external adverse-media notes — slow, inconsistent, and dependent on individual judgement.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563EB"/>
                </a:solidFill>
                <a:latin typeface="Segoe UI"/>
              </a:rPr>
              <a:t>▸  </a:t>
            </a:r>
            <a:r>
              <a:rPr sz="1450" b="1">
                <a:solidFill>
                  <a:srgbClr val="334155"/>
                </a:solidFill>
                <a:latin typeface="Segoe UI"/>
              </a:rPr>
              <a:t>No correlation:  </a:t>
            </a:r>
            <a:r>
              <a:rPr sz="1450">
                <a:solidFill>
                  <a:srgbClr val="334155"/>
                </a:solidFill>
                <a:latin typeface="Segoe UI"/>
              </a:rPr>
              <a:t>each source lives in a silo. A weak signal in one system (a KYC gap) is never combined with a weak signal in another (a cash pattern, a news hit) to reveal the real picture.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2563EB"/>
                </a:solidFill>
                <a:latin typeface="Segoe UI"/>
              </a:rPr>
              <a:t>▸  </a:t>
            </a:r>
            <a:r>
              <a:rPr sz="1450" b="1">
                <a:solidFill>
                  <a:srgbClr val="334155"/>
                </a:solidFill>
                <a:latin typeface="Segoe UI"/>
              </a:rPr>
              <a:t>Alert fatigue:  </a:t>
            </a:r>
            <a:r>
              <a:rPr sz="1450">
                <a:solidFill>
                  <a:srgbClr val="334155"/>
                </a:solidFill>
                <a:latin typeface="Segoe UI"/>
              </a:rPr>
              <a:t>analysts triage large volumes with no reliable way to know which few cases matter most, right now.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74920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563EB"/>
                </a:solidFill>
                <a:latin typeface="Segoe UI"/>
              </a:rPr>
              <a:t>What success looks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8640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50" b="1">
                <a:solidFill>
                  <a:srgbClr val="2563EB"/>
                </a:solidFill>
                <a:latin typeface="Segoe UI"/>
              </a:rPr>
              <a:t>▸  </a:t>
            </a:r>
            <a:r>
              <a:rPr sz="1450">
                <a:solidFill>
                  <a:srgbClr val="334155"/>
                </a:solidFill>
                <a:latin typeface="Segoe UI"/>
              </a:rPr>
              <a:t>An analyst sees WHO to review first, WHY (with cited evidence), and WHAT to do next — not a bigger data dump.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417320"/>
            <a:ext cx="4160520" cy="50749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169164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3C5FD"/>
                </a:solidFill>
                <a:latin typeface="Segoe UI"/>
              </a:rPr>
              <a:t>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057400"/>
            <a:ext cx="3566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Build a 3-day AI proof-of-concept that ingests structured + unstructured financial data and produces a prioritised, risk-scored, explainable summary.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3611880"/>
            <a:ext cx="324612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37947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DD3FC"/>
                </a:solidFill>
                <a:latin typeface="Segoe UI"/>
              </a:rPr>
              <a:t>3 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4087368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transactions · KYC records · adverse-media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44531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DD3FC"/>
                </a:solidFill>
                <a:latin typeface="Segoe UI"/>
              </a:rPr>
              <a:t>11 rules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4745736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explainable, weighted signal detectors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5111496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DD3FC"/>
                </a:solidFill>
                <a:latin typeface="Segoe UI"/>
              </a:rPr>
              <a:t>0–100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5404104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auditable risk score → 4 priority tiers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576986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7DD3FC"/>
                </a:solidFill>
                <a:latin typeface="Segoe UI"/>
              </a:rPr>
              <a:t>5 personas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6062472"/>
            <a:ext cx="3566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BD5E1"/>
                </a:solidFill>
                <a:latin typeface="Segoe UI"/>
              </a:rPr>
              <a:t>incl. a clean control case to prove precision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Financial Risk Signal Aggregator — FirstSource AI Prototype Challenge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3C5FD"/>
                </a:solidFill>
                <a:latin typeface="Segoe UI"/>
              </a:rPr>
              <a:t>02 ·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SOLUTION ARCHITECTURE AND DESIGN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840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93C5FD"/>
                </a:solidFill>
                <a:latin typeface="Segoe UI"/>
              </a:rPr>
              <a:t>2/5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11201400" cy="658368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BEAFE"/>
                </a:solidFill>
                <a:latin typeface="Segoe UI"/>
              </a:rPr>
              <a:t>Core design principle:  </a:t>
            </a:r>
            <a:r>
              <a:rPr sz="1500" b="1">
                <a:solidFill>
                  <a:srgbClr val="FFFFFF"/>
                </a:solidFill>
                <a:latin typeface="Segoe UI"/>
              </a:rPr>
              <a:t>Deterministic rules SCORE the risk (auditable, 0–100)  ·  Gemini EXPLAINS it (grounded in evidence, never invents the number)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331720"/>
            <a:ext cx="172714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" y="2441448"/>
            <a:ext cx="365760" cy="36576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926080"/>
            <a:ext cx="150769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502152"/>
            <a:ext cx="150769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CSV transactions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JSON customers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Pasted alert 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9820" y="3241548"/>
            <a:ext cx="12509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563EB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94661" y="2331720"/>
            <a:ext cx="172714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04389" y="2441448"/>
            <a:ext cx="365760" cy="36576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04389" y="2926080"/>
            <a:ext cx="150769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4389" y="3502152"/>
            <a:ext cx="150769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pandas: parse,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standardise,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join on customer_id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41561" y="3241548"/>
            <a:ext cx="12509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563EB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6402" y="2331720"/>
            <a:ext cx="172714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96130" y="2441448"/>
            <a:ext cx="365760" cy="36576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6130" y="2926080"/>
            <a:ext cx="150769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RULE ENGINE +</a:t>
            </a:r>
          </a:p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LLM EXTRACTION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6130" y="3502152"/>
            <a:ext cx="150769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11 weighted rules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+ Gemini structures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unstructured alerts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3302" y="3241548"/>
            <a:ext cx="12509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563EB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8143" y="2331720"/>
            <a:ext cx="172714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87871" y="2441448"/>
            <a:ext cx="365760" cy="36576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7871" y="2926080"/>
            <a:ext cx="150769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7871" y="3502152"/>
            <a:ext cx="150769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Sum weights (cap 100)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→ tier → ranked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priority register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5043" y="3241548"/>
            <a:ext cx="12509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563EB"/>
                </a:solidFill>
                <a:latin typeface="Segoe U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9884" y="2331720"/>
            <a:ext cx="172714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79612" y="2441448"/>
            <a:ext cx="365760" cy="36576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79612" y="2926080"/>
            <a:ext cx="150769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AI REASONING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9612" y="3502152"/>
            <a:ext cx="150769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Gemini writes grounded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rationale + action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per entity + exec summary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16784" y="3241548"/>
            <a:ext cx="12509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2563EB"/>
                </a:solidFill>
                <a:latin typeface="Segoe U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961625" y="2331720"/>
            <a:ext cx="1727149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71353" y="2441448"/>
            <a:ext cx="365760" cy="365760"/>
          </a:xfrm>
          <a:prstGeom prst="roundRect">
            <a:avLst>
              <a:gd name="adj" fmla="val 6000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71353" y="2926080"/>
            <a:ext cx="150769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F172A"/>
                </a:solidFill>
                <a:latin typeface="Segoe UI"/>
              </a:rPr>
              <a:t>DASHBOARD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1353" y="3502152"/>
            <a:ext cx="150769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Streamlit: register,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drill-down, charts,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75569"/>
                </a:solidFill>
                <a:latin typeface="Segoe UI"/>
              </a:rPr>
              <a:t>NL query, export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709160"/>
            <a:ext cx="11201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563EB"/>
                </a:solidFill>
                <a:latin typeface="Segoe UI"/>
              </a:rPr>
              <a:t>Why this shape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07492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▸  </a:t>
            </a:r>
            <a:r>
              <a:rPr sz="1250" b="1">
                <a:solidFill>
                  <a:srgbClr val="334155"/>
                </a:solidFill>
                <a:latin typeface="Segoe UI"/>
              </a:rPr>
              <a:t>Explainable by construction:  </a:t>
            </a:r>
            <a:r>
              <a:rPr sz="1250">
                <a:solidFill>
                  <a:srgbClr val="334155"/>
                </a:solidFill>
                <a:latin typeface="Segoe UI"/>
              </a:rPr>
              <a:t>stages 1–4 run with zero LLM calls — a complete, reproducible risk register exists before any AI narrative is added.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▸  </a:t>
            </a:r>
            <a:r>
              <a:rPr sz="1250" b="1">
                <a:solidFill>
                  <a:srgbClr val="334155"/>
                </a:solidFill>
                <a:latin typeface="Segoe UI"/>
              </a:rPr>
              <a:t>Multi-source correlation:  </a:t>
            </a:r>
            <a:r>
              <a:rPr sz="1250">
                <a:solidFill>
                  <a:srgbClr val="334155"/>
                </a:solidFill>
                <a:latin typeface="Segoe UI"/>
              </a:rPr>
              <a:t>weak signals from 3 different sources aggregate per customer_id into one strong, prioritised case.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5074920"/>
            <a:ext cx="544068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▸  </a:t>
            </a:r>
            <a:r>
              <a:rPr sz="1250" b="1">
                <a:solidFill>
                  <a:srgbClr val="334155"/>
                </a:solidFill>
                <a:latin typeface="Segoe UI"/>
              </a:rPr>
              <a:t>Graceful degradation:  </a:t>
            </a:r>
            <a:r>
              <a:rPr sz="1250">
                <a:solidFill>
                  <a:srgbClr val="334155"/>
                </a:solidFill>
                <a:latin typeface="Segoe UI"/>
              </a:rPr>
              <a:t>every Gemini call has a templated/heuristic fallback — the app never breaks if a key or quota is missing.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▸  </a:t>
            </a:r>
            <a:r>
              <a:rPr sz="1250" b="1">
                <a:solidFill>
                  <a:srgbClr val="334155"/>
                </a:solidFill>
                <a:latin typeface="Segoe UI"/>
              </a:rPr>
              <a:t>Compliance-defensible:  </a:t>
            </a:r>
            <a:r>
              <a:rPr sz="1250">
                <a:solidFill>
                  <a:srgbClr val="334155"/>
                </a:solidFill>
                <a:latin typeface="Segoe UI"/>
              </a:rPr>
              <a:t>an analyst can trace any score back to the exact rule and evidence that produced it.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Financial Risk Signal Aggregator — FirstSource AI Prototype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3C5FD"/>
                </a:solidFill>
                <a:latin typeface="Segoe UI"/>
              </a:rPr>
              <a:t>03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IMPLEMENTATION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840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93C5FD"/>
                </a:solidFill>
                <a:latin typeface="Segoe UI"/>
              </a:rPr>
              <a:t>3/5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drill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" y="1280160"/>
            <a:ext cx="5193792" cy="324612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4617720"/>
            <a:ext cx="6355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475569"/>
                </a:solidFill>
                <a:latin typeface="Segoe UI"/>
              </a:rPr>
              <a:t>Live screenshot — entity drill-down with real Gemini rationale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029200"/>
            <a:ext cx="6355080" cy="150876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138928"/>
            <a:ext cx="6035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2E8F0"/>
                </a:solidFill>
                <a:latin typeface="Consolas"/>
              </a:rPr>
              <a:t># config.py — every weight is a named, auditable constant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2E8F0"/>
                </a:solidFill>
                <a:latin typeface="Consolas"/>
              </a:rPr>
              <a:t>WEIGHTS = {"STRUCTURING": 30, "HIGH_RISK_JURISDICTION": 25,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2E8F0"/>
                </a:solidFill>
                <a:latin typeface="Consolas"/>
              </a:rPr>
              <a:t>           "PASS_THROUGH": 25, "VELOCITY_SPIKE": 20, "ADVERSE_MEDIA": 20, ...}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2E8F0"/>
                </a:solidFill>
                <a:latin typeface="Consolas"/>
              </a:rPr>
              <a:t>def score_to_tier(score):  # 0-24 Low · 25-49 Med · 50-74 High · 75-100 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280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563EB"/>
                </a:solidFill>
                <a:latin typeface="Segoe UI"/>
              </a:rPr>
              <a:t>Technical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691640"/>
            <a:ext cx="457200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▸  </a:t>
            </a:r>
            <a:r>
              <a:rPr sz="1250" b="1">
                <a:solidFill>
                  <a:srgbClr val="334155"/>
                </a:solidFill>
                <a:latin typeface="Segoe UI"/>
              </a:rPr>
              <a:t>11 explainable rules —  </a:t>
            </a:r>
            <a:r>
              <a:rPr sz="1250">
                <a:solidFill>
                  <a:srgbClr val="334155"/>
                </a:solidFill>
                <a:latin typeface="Segoe UI"/>
              </a:rPr>
              <a:t>structuring, pass-through layering, sanctioned-jurisdiction exposure, velocity spikes, dormant reactivation, PEP, KYC gaps, adverse media, and more.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▸  </a:t>
            </a:r>
            <a:r>
              <a:rPr sz="1250" b="1">
                <a:solidFill>
                  <a:srgbClr val="334155"/>
                </a:solidFill>
                <a:latin typeface="Segoe UI"/>
              </a:rPr>
              <a:t>Gemini does 2 jobs only —  </a:t>
            </a:r>
            <a:r>
              <a:rPr sz="1250">
                <a:solidFill>
                  <a:srgbClr val="334155"/>
                </a:solidFill>
                <a:latin typeface="Segoe UI"/>
              </a:rPr>
              <a:t>(a) parse free-text alerts into structured {entity, severity, summary} hits, (b) write the rationale + recommended action. It never sets the score.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▸  </a:t>
            </a:r>
            <a:r>
              <a:rPr sz="1250" b="1">
                <a:solidFill>
                  <a:srgbClr val="334155"/>
                </a:solidFill>
                <a:latin typeface="Segoe UI"/>
              </a:rPr>
              <a:t>Guardrailed prompts —  </a:t>
            </a:r>
            <a:r>
              <a:rPr sz="1250">
                <a:solidFill>
                  <a:srgbClr val="334155"/>
                </a:solidFill>
                <a:latin typeface="Segoe UI"/>
              </a:rPr>
              <a:t>every prompt instructs "use only the supplied evidence"; JSON output is validated with pydantic and retried once before falling back.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▸  </a:t>
            </a:r>
            <a:r>
              <a:rPr sz="1250" b="1">
                <a:solidFill>
                  <a:srgbClr val="334155"/>
                </a:solidFill>
                <a:latin typeface="Segoe UI"/>
              </a:rPr>
              <a:t>Model resilience —  </a:t>
            </a:r>
            <a:r>
              <a:rPr sz="1250">
                <a:solidFill>
                  <a:srgbClr val="334155"/>
                </a:solidFill>
                <a:latin typeface="Segoe UI"/>
              </a:rPr>
              <a:t>free-tier pinned Gemini versions were retired mid-build; switched to rolling '-latest' aliases with an automatic secondary-model retry.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5029200"/>
            <a:ext cx="4572000" cy="150876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516636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563EB"/>
                </a:solidFill>
                <a:latin typeface="Segoe UI"/>
              </a:rPr>
              <a:t>Verified, not assumed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5468112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▸  </a:t>
            </a:r>
            <a:r>
              <a:rPr sz="1100">
                <a:solidFill>
                  <a:srgbClr val="334155"/>
                </a:solidFill>
                <a:latin typeface="Segoe UI"/>
              </a:rPr>
              <a:t>7/7 pytest scenario tests pass (planted cases land in expected tiers)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2563EB"/>
                </a:solidFill>
                <a:latin typeface="Segoe UI"/>
              </a:rPr>
              <a:t>▸  </a:t>
            </a:r>
            <a:r>
              <a:rPr sz="1100">
                <a:solidFill>
                  <a:srgbClr val="334155"/>
                </a:solidFill>
                <a:latin typeface="Segoe UI"/>
              </a:rPr>
              <a:t>Full pipeline run against the live Gemini API, screenshots captured from the running app — not mockups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Financial Risk Signal Aggregator — FirstSource AI Prototype 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3C5FD"/>
                </a:solidFill>
                <a:latin typeface="Segoe UI"/>
              </a:rPr>
              <a:t>04 ·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CHALLENGES AND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840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93C5FD"/>
                </a:solidFill>
                <a:latin typeface="Segoe UI"/>
              </a:rPr>
              <a:t>4/5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57150" cy="109728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Segoe UI"/>
              </a:rPr>
              <a:t>Explainability vs. black-box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55648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A single end-to-end LLM score would be faster to build but indefensible to a regulator. Trade-off resolved by splitting scoring (deterministic) from narrative (AI) — slower to build, defensible to ship.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24328"/>
            <a:ext cx="57150" cy="10972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Segoe UI"/>
              </a:rPr>
              <a:t>Hallucination risk in the rationale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62656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An LLM asked to 'explain risk' will happily invent supporting facts. Mitigated with evidence-only prompt constraints, strict JSON schemas, and a rule that the model can restate but never alter the score.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31336"/>
            <a:ext cx="57150" cy="1097280"/>
          </a:xfrm>
          <a:prstGeom prst="rect">
            <a:avLst/>
          </a:prstGeom>
          <a:solidFill>
            <a:srgbClr val="CA8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85616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Segoe UI"/>
              </a:rPr>
              <a:t>Precision vs. sensitivity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69664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A model that flags everyone is useless. Added a deliberately clean control customer to the sample data — the register must score them 0/Low, proving the system doesn't just over-flag.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038344"/>
            <a:ext cx="57150" cy="10972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92624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Segoe UI"/>
              </a:rPr>
              <a:t>Free-tier model churn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76672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75569"/>
                </a:solidFill>
                <a:latin typeface="Segoe UI"/>
              </a:rPr>
              <a:t>Pinned Gemini model versions (2.0-flash, 2.5-flash) were already retired for new API keys mid-build. Learning: depend on rolling '-latest' aliases plus a fallback model, not a pinned version string.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Financial Risk Signal Aggregator — FirstSource AI Prototype Challenge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3C5FD"/>
                </a:solidFill>
                <a:latin typeface="Segoe UI"/>
              </a:rPr>
              <a:t>05 ·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515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DEMO SUMMARY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3840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1" i="0">
                <a:solidFill>
                  <a:srgbClr val="93C5FD"/>
                </a:solidFill>
                <a:latin typeface="Segoe UI"/>
              </a:rPr>
              <a:t>5/5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868" y="1280160"/>
            <a:ext cx="4901184" cy="306324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2920" y="4389120"/>
            <a:ext cx="6355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475569"/>
                </a:solidFill>
                <a:latin typeface="Segoe UI"/>
              </a:rPr>
              <a:t>Live screenshot — portfolio overview with AI executive summary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00600"/>
            <a:ext cx="6355080" cy="173736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5806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93C5FD"/>
                </a:solidFill>
                <a:latin typeface="Segoe UI"/>
              </a:rPr>
              <a:t>LINKS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303520"/>
            <a:ext cx="5806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Repo:  github.com/ramkumar03ace/Financial-Risk-Signal-Aggregator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69280"/>
            <a:ext cx="5806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Live demo:  financial-risk-signal-aggregator-production.up.railway.app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035040"/>
            <a:ext cx="5806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BD5E1"/>
                </a:solidFill>
                <a:latin typeface="Segoe UI"/>
              </a:rPr>
              <a:t>Video: &lt;3-min walkthrough (data in → AI analysis → risk summary out)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280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563EB"/>
                </a:solidFill>
                <a:latin typeface="Segoe UI"/>
              </a:rPr>
              <a:t>What was delivered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691640"/>
            <a:ext cx="45720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▸  </a:t>
            </a:r>
            <a:r>
              <a:rPr sz="1250">
                <a:solidFill>
                  <a:srgbClr val="334155"/>
                </a:solidFill>
                <a:latin typeface="Segoe UI"/>
              </a:rPr>
              <a:t>Working end-to-end prototype: ingestion → 11-rule engine → 0-100 explainable score → Gemini rationale → Streamlit dashboard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▸  </a:t>
            </a:r>
            <a:r>
              <a:rPr sz="1250">
                <a:solidFill>
                  <a:srgbClr val="334155"/>
                </a:solidFill>
                <a:latin typeface="Segoe UI"/>
              </a:rPr>
              <a:t>5 planted scenarios incl. a clean control case; 7/7 automated tests passing; graceful no-API-key fallback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429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563EB"/>
                </a:solidFill>
                <a:latin typeface="Segoe UI"/>
              </a:rPr>
              <a:t>Next steps, with more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840480"/>
            <a:ext cx="45720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▸  </a:t>
            </a:r>
            <a:r>
              <a:rPr sz="1200" b="1">
                <a:solidFill>
                  <a:srgbClr val="334155"/>
                </a:solidFill>
                <a:latin typeface="Segoe UI"/>
              </a:rPr>
              <a:t>Real sanctions data:  </a:t>
            </a:r>
            <a:r>
              <a:rPr sz="1200">
                <a:solidFill>
                  <a:srgbClr val="334155"/>
                </a:solidFill>
                <a:latin typeface="Segoe UI"/>
              </a:rPr>
              <a:t>live OFAC / UN / EU list APIs in place of the illustrative watchlist.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▸  </a:t>
            </a:r>
            <a:r>
              <a:rPr sz="1200" b="1">
                <a:solidFill>
                  <a:srgbClr val="334155"/>
                </a:solidFill>
                <a:latin typeface="Segoe UI"/>
              </a:rPr>
              <a:t>Network analysis:  </a:t>
            </a:r>
            <a:r>
              <a:rPr sz="1200">
                <a:solidFill>
                  <a:srgbClr val="334155"/>
                </a:solidFill>
                <a:latin typeface="Segoe UI"/>
              </a:rPr>
              <a:t>graph-based correlation across shared counterparties, not just per-customer.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▸  </a:t>
            </a:r>
            <a:r>
              <a:rPr sz="1200" b="1">
                <a:solidFill>
                  <a:srgbClr val="334155"/>
                </a:solidFill>
                <a:latin typeface="Segoe UI"/>
              </a:rPr>
              <a:t>Feedback loop:  </a:t>
            </a:r>
            <a:r>
              <a:rPr sz="1200">
                <a:solidFill>
                  <a:srgbClr val="334155"/>
                </a:solidFill>
                <a:latin typeface="Segoe UI"/>
              </a:rPr>
              <a:t>let analyst dispositions (true/false positive) auto-tune rule weights over time.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▸  </a:t>
            </a:r>
            <a:r>
              <a:rPr sz="1200" b="1">
                <a:solidFill>
                  <a:srgbClr val="334155"/>
                </a:solidFill>
                <a:latin typeface="Segoe UI"/>
              </a:rPr>
              <a:t>Case management:  </a:t>
            </a:r>
            <a:r>
              <a:rPr sz="1200">
                <a:solidFill>
                  <a:srgbClr val="334155"/>
                </a:solidFill>
                <a:latin typeface="Segoe UI"/>
              </a:rPr>
              <a:t>assign, comment, and audit-log each investigation from inside the dashboard.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▸  </a:t>
            </a:r>
            <a:r>
              <a:rPr sz="1200" b="1">
                <a:solidFill>
                  <a:srgbClr val="334155"/>
                </a:solidFill>
                <a:latin typeface="Segoe UI"/>
              </a:rPr>
              <a:t>Streaming ingestion:  </a:t>
            </a:r>
            <a:r>
              <a:rPr sz="1200">
                <a:solidFill>
                  <a:srgbClr val="334155"/>
                </a:solidFill>
                <a:latin typeface="Segoe UI"/>
              </a:rPr>
              <a:t>move from batch CSV/JSON to a live transaction feed.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Financial Risk Signal Aggregator — FirstSource AI Prototype Challenge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