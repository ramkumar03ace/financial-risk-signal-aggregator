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-110" y="-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FC3043-CCD6-BE02-98BC-ED8456F11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021C90-6537-D753-813E-E780EC849F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610786-D624-4BF4-918A-24E781FA63EC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1019D-13F0-2E1A-E0FF-BEA9867221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D23024-8F19-306B-BF5B-AA5044BE0C9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B69DA-0FFF-4B76-B03A-FB8B7350FC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04111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639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0607040" y="4389120"/>
            <a:ext cx="2926080" cy="29260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 SIGNAL AGGREGATOR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Understanding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 manage AML/KYC risk by pulling together transaction ledgers, account records, sanctions lists, adverse media and analyst notes — scattered across formats and systems.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35224"/>
            <a:ext cx="82296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siloed review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transaction/account data and unstructured alerts are reviewed separately, slowing investigations.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76472"/>
            <a:ext cx="82296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68680" y="372160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consistent prioritisation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014216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lack a transparent, repeatable way to rank which customers need attention first.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617720"/>
            <a:ext cx="82296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68680" y="456285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relationships missed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85546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scoring alone can't see shared intermediaries linking two flagged accounts.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458968"/>
            <a:ext cx="82296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68680" y="540410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pressure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569671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filing, MLRO escalation and EDD decisions need to be fast, defensible and auditable.</a:t>
            </a:r>
            <a:endParaRPr lang="en-US" sz="11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DA92FC-DE90-F303-560F-277BE7C8B4C6}"/>
              </a:ext>
            </a:extLst>
          </p:cNvPr>
          <p:cNvSpPr txBox="1"/>
          <p:nvPr/>
        </p:nvSpPr>
        <p:spPr>
          <a:xfrm>
            <a:off x="8503920" y="5696712"/>
            <a:ext cx="2852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Ramkumar Arcot Dharmalingam</a:t>
            </a:r>
            <a:endParaRPr lang="en-IN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Signals to a Prioritised Risk Register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999232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structured transactions (CSV) and customer records (JSON), plus free-text alerts, adverse media and analyst notes — or use a bundled example dataset.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69164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7033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70332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3320" y="26060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2999232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transparent rules engine flags signals — round-number wires, structuring, dormant reactivation, high-risk jurisdictions, sanctions/PEP hits — and rolls them into an auditable risk score and tier.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169164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62940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62940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29400" y="26060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29400" y="2999232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reads the scored signals and case context to generate a plain-language executive summary and investigation order — explanation layered on top of, never replacing, the deterministic score.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326880" y="169164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95554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5554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555480" y="26060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55480" y="2999232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 ranked Risk Register with recommended actions — File SAR, Escalate to MLRO, Enhanced Due Diligence, Monitor — plus a counterparty network view and CSV/JSON export.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scoring stays auditable; generative AI adds narrative explanation — not the score itself.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Prototype, Working End-to-End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143000"/>
          </a:xfrm>
          <a:prstGeom prst="roundRect">
            <a:avLst>
              <a:gd name="adj" fmla="val 5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screened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143000"/>
          </a:xfrm>
          <a:prstGeom prst="roundRect">
            <a:avLst>
              <a:gd name="adj" fmla="val 5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337560" y="160020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1,974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1945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ingested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143000"/>
          </a:xfrm>
          <a:prstGeom prst="roundRect">
            <a:avLst>
              <a:gd name="adj" fmla="val 5600"/>
            </a:avLst>
          </a:prstGeom>
          <a:solidFill>
            <a:srgbClr val="B23A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26480" y="160020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1945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Critical-tier cases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06040" cy="1143000"/>
          </a:xfrm>
          <a:prstGeom prst="roundRect">
            <a:avLst>
              <a:gd name="adj" fmla="val 5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915400" y="160020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915400" y="21945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match confidence</a:t>
            </a:r>
            <a:endParaRPr lang="en-US" sz="1100" dirty="0"/>
          </a:p>
        </p:txBody>
      </p:sp>
      <p:pic>
        <p:nvPicPr>
          <p:cNvPr id="16" name="Image 0" descr="screenshot-1785078900683-0e5746f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2926080"/>
            <a:ext cx="5623560" cy="30632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48640" y="603504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risk register — ranked by score, tier, and recommended action</a:t>
            </a:r>
            <a:endParaRPr lang="en-US" sz="1050" dirty="0"/>
          </a:p>
        </p:txBody>
      </p:sp>
      <p:pic>
        <p:nvPicPr>
          <p:cNvPr id="18" name="Image 1" descr="screenshot-1785078925831-476a5d13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2926080"/>
            <a:ext cx="5303520" cy="30632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355080" y="6035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network — surfaces shared intermediaries linking two Critical customers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Hard to Get Right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77240" y="1929384"/>
            <a:ext cx="548640" cy="548640"/>
          </a:xfrm>
          <a:prstGeom prst="ellipse">
            <a:avLst/>
          </a:prstGeom>
          <a:solidFill>
            <a:srgbClr val="D98E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1929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AI explanation from becoming the score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554480" y="210312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Investigators need a defensible, reproducible number. Gemini narrates and orders priorities — the rules engine still owns the score, so a bad LLM call can't silently shift a rating.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62072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777240" y="3099816"/>
            <a:ext cx="548640" cy="548640"/>
          </a:xfrm>
          <a:prstGeom prst="ellipse">
            <a:avLst/>
          </a:prstGeom>
          <a:solidFill>
            <a:srgbClr val="D98E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77240" y="309981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2953512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free-text intelligence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327355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Compliance-inbox notes and adverse-media snippets arrive as unstructured prose; parsing them into consistent, comparable signals per customer was non-trivial.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32504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77240" y="4270248"/>
            <a:ext cx="548640" cy="548640"/>
          </a:xfrm>
          <a:prstGeom prst="ellipse">
            <a:avLst/>
          </a:prstGeom>
          <a:solidFill>
            <a:srgbClr val="D98E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77240" y="42702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4123944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relationships, not just records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54480" y="4443984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scoring is blind to shared counterparties. Building a network view to catch layering patterns across two “independent” cases took a different data model.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02936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4F6FB"/>
          </a:solidFill>
          <a:ln w="1270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D98E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294376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model choice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554480" y="5614416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Gemini against alternative inference providers for cost, latency and accuracy trade-offs — without destabilising the core scoring logic.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114800"/>
            <a:ext cx="4572000" cy="457200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Build Reinforced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beats either extreme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87752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give auditability regulators need; generative AI adds the narrative and triage speed analysts need. Neither alone was enough.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context changes conclusions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587752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of shared counterparties turned two “separate” Critical cases into one connected typology — flat, per-record scoring alone would have missed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 is the workflow, not the 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553712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with a recommended action (File SAR / Escalate / EDD / Monitor) is what makes a risk score usable — the scoring logic is only half the product.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39319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731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537960" y="411480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 working example path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37960" y="4553712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Bundling a realistic example dataset let the prototype be evaluated end-to-end in minutes, without needing real customer data on hand.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592</Words>
  <Application>Microsoft Office PowerPoint</Application>
  <PresentationFormat>Widescreen</PresentationFormat>
  <Paragraphs>68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Ramkumar Arcot Dharmalingam</cp:lastModifiedBy>
  <cp:revision>2</cp:revision>
  <dcterms:created xsi:type="dcterms:W3CDTF">2026-07-26T15:18:14Z</dcterms:created>
  <dcterms:modified xsi:type="dcterms:W3CDTF">2026-07-26T15:23:42Z</dcterms:modified>
</cp:coreProperties>
</file>