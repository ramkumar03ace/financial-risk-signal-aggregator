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01 · UNDERSTANDING THE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PROBLEM UNDERSTANDING AND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66751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Fragmented review:  </a:t>
            </a:r>
            <a:r>
              <a:rPr sz="1450">
                <a:solidFill>
                  <a:srgbClr val="334155"/>
                </a:solidFill>
                <a:latin typeface="Segoe UI"/>
              </a:rPr>
              <a:t>compliance &amp; risk teams manually cross-check transaction alerts, customer/KYC records and external adverse-media notes — slow, inconsistent, and dependent on individual judgement.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No correlation:  </a:t>
            </a:r>
            <a:r>
              <a:rPr sz="1450">
                <a:solidFill>
                  <a:srgbClr val="334155"/>
                </a:solidFill>
                <a:latin typeface="Segoe UI"/>
              </a:rPr>
              <a:t>each source lives in a silo. A weak signal in one system (a KYC gap) is never combined with a weak signal in another (a cash pattern, a news hit) to reveal the real picture.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Alert fatigue:  </a:t>
            </a:r>
            <a:r>
              <a:rPr sz="1450">
                <a:solidFill>
                  <a:srgbClr val="334155"/>
                </a:solidFill>
                <a:latin typeface="Segoe UI"/>
              </a:rPr>
              <a:t>analysts triage large volumes with no reliable way to know which few cases matter most, right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What success looks 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4864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>
                <a:solidFill>
                  <a:srgbClr val="334155"/>
                </a:solidFill>
                <a:latin typeface="Segoe UI"/>
              </a:rPr>
              <a:t>An analyst sees WHO to review first, WHY (with cited evidence), and WHAT to do next — not a bigger data dump.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1417320"/>
            <a:ext cx="4160520" cy="50749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6916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3C5FD"/>
                </a:solidFill>
                <a:latin typeface="Segoe UI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05740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Build a 3-day AI proof-of-concept that ingests structured + unstructured financial data and produces a prioritised, risk-scored, explainable summary.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3611880"/>
            <a:ext cx="3246120" cy="1905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79476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3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087368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transactions · KYC records · adverse-media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45312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11 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745736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explainable, weighted signal detectors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11149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0–100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5404104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auditable risk score → 4 priority tiers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576986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67 customers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606247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1,971 transactions — only 11 flagged, 56 clean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02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SOLUTION ARCHITECTURE AND DESIGN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201400" cy="658368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BEAFE"/>
                </a:solidFill>
                <a:latin typeface="Segoe UI"/>
              </a:rPr>
              <a:t>Core design principle:  </a:t>
            </a:r>
            <a:r>
              <a:rPr sz="1500" b="1">
                <a:solidFill>
                  <a:srgbClr val="FFFFFF"/>
                </a:solidFill>
                <a:latin typeface="Segoe UI"/>
              </a:rPr>
              <a:t>Deterministic rules SCORE the risk (auditable, 0–100)  ·  Gemini EXPLAINS it (grounded in evidence, never invents the number)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CSV transactions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JSON customers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Pasted alert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820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94661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04389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4389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4389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pandas: parse,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standardise,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join on customer_id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61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6402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96130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6130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RULE ENGINE +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LLM EXTRACTION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6130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11 weighted rules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+ Gemini structures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unstructured alerts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3302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87871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7871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SCORING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7871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Sum weights (cap 100)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→ tier → ranked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priority register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5043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9884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79612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9612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AI REASONING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9612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Gemini writes grounded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rationale + action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per entity + exec summary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6784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61625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71353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1353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71353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Streamlit: register,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drill-down, charts,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NL query, export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709160"/>
            <a:ext cx="11201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Why this shape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07492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Explainable by construction:  </a:t>
            </a:r>
            <a:r>
              <a:rPr sz="1250">
                <a:solidFill>
                  <a:srgbClr val="334155"/>
                </a:solidFill>
                <a:latin typeface="Segoe UI"/>
              </a:rPr>
              <a:t>stages 1–4 run with zero LLM calls — a complete, reproducible risk register exists before any AI narrative is added.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Multi-source correlation:  </a:t>
            </a:r>
            <a:r>
              <a:rPr sz="1250">
                <a:solidFill>
                  <a:srgbClr val="334155"/>
                </a:solidFill>
                <a:latin typeface="Segoe UI"/>
              </a:rPr>
              <a:t>weak signals from 3 different sources aggregate per customer_id into one strong case — and a counterparty network graph links separate flagged customers who share an intermediary, a cross-customer view per-customer scoring can't see.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507492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Graceful degradation:  </a:t>
            </a:r>
            <a:r>
              <a:rPr sz="1250">
                <a:solidFill>
                  <a:srgbClr val="334155"/>
                </a:solidFill>
                <a:latin typeface="Segoe UI"/>
              </a:rPr>
              <a:t>every Gemini call has a templated/heuristic fallback — the app never breaks if a key or quota is missing.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Compliance-defensible:  </a:t>
            </a:r>
            <a:r>
              <a:rPr sz="1250">
                <a:solidFill>
                  <a:srgbClr val="334155"/>
                </a:solidFill>
                <a:latin typeface="Segoe UI"/>
              </a:rPr>
              <a:t>an analyst can trace any score back to the exact rule and evidence that produced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03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IMPLEMENTATION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" y="1280160"/>
            <a:ext cx="5193792" cy="324612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4617720"/>
            <a:ext cx="6355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75569"/>
                </a:solidFill>
                <a:latin typeface="Segoe UI"/>
              </a:rPr>
              <a:t>Live screenshot — counterparty network: two independently-flagged customers linked through one shell company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29200"/>
            <a:ext cx="63550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6035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# src/network.py — a counterparty only carries signal if 2+ customers share it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shared = {cp for cp, custs in counterparty_customers.items()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          if len(custs) &gt;= 2}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# per-customer scoring alone can never see this cross-customer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280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Technical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691640"/>
            <a:ext cx="45720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11 explainable rules —  </a:t>
            </a:r>
            <a:r>
              <a:rPr sz="1250">
                <a:solidFill>
                  <a:srgbClr val="334155"/>
                </a:solidFill>
                <a:latin typeface="Segoe UI"/>
              </a:rPr>
              <a:t>structuring, pass-through layering, sanctioned-jurisdiction exposure, velocity spikes, dormant reactivation, PEP, KYC gaps, adverse media, and more.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Counterparty network graph —  </a:t>
            </a:r>
            <a:r>
              <a:rPr sz="1250">
                <a:solidFill>
                  <a:srgbClr val="334155"/>
                </a:solidFill>
                <a:latin typeface="Segoe UI"/>
              </a:rPr>
              <a:t>wire counterparties used by 2+ customers become links between them, revealing shared intermediaries per-customer scoring alone cannot see.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Gemini vs NVIDIA, verified live —  </a:t>
            </a:r>
            <a:r>
              <a:rPr sz="1250">
                <a:solidFill>
                  <a:srgbClr val="334155"/>
                </a:solidFill>
                <a:latin typeface="Segoe UI"/>
              </a:rPr>
              <a:t>the same alert text and transactions run through both providers side by side; NVIDIA caught an alert Gemini missed, producing a real score/tier delta.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Guardrailed prompts —  </a:t>
            </a:r>
            <a:r>
              <a:rPr sz="1250">
                <a:solidFill>
                  <a:srgbClr val="334155"/>
                </a:solidFill>
                <a:latin typeface="Segoe UI"/>
              </a:rPr>
              <a:t>every prompt instructs "use only the supplied evidence"; JSON output is validated with pydantic and retried once before falling 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5029200"/>
            <a:ext cx="4572000" cy="150876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51663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563EB"/>
                </a:solidFill>
                <a:latin typeface="Segoe UI"/>
              </a:rPr>
              <a:t>Verified, not assumed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468112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100">
                <a:solidFill>
                  <a:srgbClr val="334155"/>
                </a:solidFill>
                <a:latin typeface="Segoe UI"/>
              </a:rPr>
              <a:t>7/7 pytest scenario tests pass (planted cases land in expected tiers)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100">
                <a:solidFill>
                  <a:srgbClr val="334155"/>
                </a:solidFill>
                <a:latin typeface="Segoe UI"/>
              </a:rPr>
              <a:t>Both LLM providers and the network graph verified against the live running app — screenshots captured from the app, not mockups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04 · 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CHALLENGES AND LEARNINGS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7150" cy="10972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Explainability vs. black-box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5564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 single end-to-end LLM score would be faster to build but indefensible to a regulator. Trade-off resolved by splitting scoring (deterministic) from narrative (AI) — slower to build, defensible to ship.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24328"/>
            <a:ext cx="57150" cy="10972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7860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Hallucination risk in the rationale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62656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An LLM asked to 'explain risk' will happily invent supporting facts. Mitigated with evidence-only prompt constraints, strict JSON schemas, and a rule that the model can restate but never alter the score.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31336"/>
            <a:ext cx="57150" cy="109728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6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Precision vs. sensitivity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69664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 model that flags everyone is useless at scale. Tested against 67 customers with 56 genuinely clean — the register correctly leaves them at 0/Low, proving the system doesn't just over-flag.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038344"/>
            <a:ext cx="57150" cy="10972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92624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Real-environment testing over assumptions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76672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 standalone script test said the NVIDIA-vs-Gemini comparison worked. Driving the real browser session showed it silently compared Gemini to itself — a Streamlit widget/session-state conflict the script couldn't reproduce. Fixed; lesson: verify inside the running app, not just code.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DEMO SUMMARY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868" y="1280160"/>
            <a:ext cx="4901184" cy="306324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4389120"/>
            <a:ext cx="6355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75569"/>
                </a:solidFill>
                <a:latin typeface="Segoe UI"/>
              </a:rPr>
              <a:t>Live screenshot — portfolio overview with AI executive summary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00600"/>
            <a:ext cx="6355080" cy="17373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0352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Repo:  github.com/ramkumar03ace/Financial-Risk-Signal-Aggregator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6928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Live demo:  financial-risk-signal-aggregator-production.up.railway.app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035040"/>
            <a:ext cx="5806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Video: &lt;3-min walkthrough (data in → AI analysis → risk summary 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280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What was delivered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1691640"/>
            <a:ext cx="45720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>
                <a:solidFill>
                  <a:srgbClr val="334155"/>
                </a:solidFill>
                <a:latin typeface="Segoe UI"/>
              </a:rPr>
              <a:t>Ingestion → 11-rule engine → 0-100 explainable score → AI rationale + waterfall → dashboard with counterparty network graph + floating chat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>
                <a:solidFill>
                  <a:srgbClr val="334155"/>
                </a:solidFill>
                <a:latin typeface="Segoe UI"/>
              </a:rPr>
              <a:t>67 customers, 1,971 transactions, 12 risk typologies; 7/7 tests passing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>
                <a:solidFill>
                  <a:srgbClr val="334155"/>
                </a:solidFill>
                <a:latin typeface="Segoe UI"/>
              </a:rPr>
              <a:t>Gemini + NVIDIA, both verified live via a real side-by-side comparison view — not just architecturally supported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566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Next steps, with more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977639"/>
            <a:ext cx="4572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Real sanctions data:  </a:t>
            </a:r>
            <a:r>
              <a:rPr sz="1200">
                <a:solidFill>
                  <a:srgbClr val="334155"/>
                </a:solidFill>
                <a:latin typeface="Segoe UI"/>
              </a:rPr>
              <a:t>live OFAC / UN / EU list APIs in place of the illustrative watchlist.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Feedback loop:  </a:t>
            </a:r>
            <a:r>
              <a:rPr sz="1200">
                <a:solidFill>
                  <a:srgbClr val="334155"/>
                </a:solidFill>
                <a:latin typeface="Segoe UI"/>
              </a:rPr>
              <a:t>let analyst dispositions (true/false positive) auto-tune rule weights over time.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Case management:  </a:t>
            </a:r>
            <a:r>
              <a:rPr sz="1200">
                <a:solidFill>
                  <a:srgbClr val="334155"/>
                </a:solidFill>
                <a:latin typeface="Segoe UI"/>
              </a:rPr>
              <a:t>assign, comment, and audit-log each investigation from inside the dashboard.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Streaming ingestion:  </a:t>
            </a:r>
            <a:r>
              <a:rPr sz="1200">
                <a:solidFill>
                  <a:srgbClr val="334155"/>
                </a:solidFill>
                <a:latin typeface="Segoe UI"/>
              </a:rPr>
              <a:t>move from batch CSV/JSON to a live transaction feed.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